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8f229b0f5c43dc" /><Relationship Type="http://schemas.openxmlformats.org/officeDocument/2006/relationships/extended-properties" Target="/docProps/app.xml" Id="R3ddcff1f857048c6" /><Relationship Type="http://schemas.openxmlformats.org/officeDocument/2006/relationships/officeDocument" Target="/ppt/presentation.xml" Id="Rd6af4e56496442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9c9f013f83454d"/>
  </p:sldMasterIdLst>
  <p:notesMasterIdLst>
    <p:notesMasterId xmlns:r="http://schemas.openxmlformats.org/officeDocument/2006/relationships" r:id="Rc9d4fa5c4883410d"/>
  </p:notesMasterIdLst>
  <p:sldIdLst>
    <p:sldId xmlns:r="http://schemas.openxmlformats.org/officeDocument/2006/relationships" id="256" r:id="R2e4e988540f246d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4245d75bac474f" /><Relationship Type="http://schemas.openxmlformats.org/officeDocument/2006/relationships/slideMaster" Target="/ppt/slideMasters/slideMaster1.xml" Id="R449c9f013f83454d" /><Relationship Type="http://schemas.openxmlformats.org/officeDocument/2006/relationships/notesMaster" Target="/ppt/notesMasters/notesMaster1.xml" Id="Rc9d4fa5c4883410d" /><Relationship Type="http://schemas.openxmlformats.org/officeDocument/2006/relationships/presProps" Target="/ppt/presProps.xml" Id="Ra2133380c5b04e40" /><Relationship Type="http://schemas.openxmlformats.org/officeDocument/2006/relationships/tableStyles" Target="/ppt/tableStyles.xml" Id="R87fa5d6133ee4828" /><Relationship Type="http://schemas.openxmlformats.org/officeDocument/2006/relationships/slide" Target="/ppt/slides/slide1.xml" Id="R2e4e988540f246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3bd817f76c43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48a1780e5045d8" /><Relationship Type="http://schemas.openxmlformats.org/officeDocument/2006/relationships/notesMaster" Target="/ppt/notesMasters/notesMaster1.xml" Id="R75b0310439e044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docs/pathfinder-plan.md, sections Phase 1: MVP companion, Phase 2: Tracking across platforms and devices, Phase 3: Machine learning, Phase 4: Scale and inclusion, and Cross-cutting requirements. These are planned phases, not delivered features or dated commitments.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 1 adds accounts, one-tap and screenshot check-ins, nudges that quote the learner’s why, catalog administration, and 30/90-day outcome follow-ups. Phase 2 extends progress tracking through browser extensions, an Android app, and SMS access for basic phones, with processing on the device where possible. Phase 3 uses completion and dropout models to time support and improve recommendations using real completion and outcome data. Predictions guide support and do not block access. Phase 4 expands languages and accessibility, connects learning with local credentials and opportunities, and builds partnerships with schools, bootcamps and NGOs.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b1be5132a84d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3a342d72a04e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c9726a5bb4c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0b062397f41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3ff580bd54b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08bf79464545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21C39E-4C97-4A81-8A7B-7FC19B6D0B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85F3A3-4C3E-4355-9EAD-CEBA759221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FE9F6DA-7589-41BB-B814-51F01478B8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5E9AD2-18C7-46F8-BA1C-4A7FA9D453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E0BE59-1E3E-46A0-808E-6A634505C1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A3C945-059F-4775-8EDC-55AAA9A99F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CEB4EC-1178-4E04-9737-70D74CD946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AB0A8B-B852-4CC8-8B1E-9C58CA4651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070E6A-FAEA-4C6E-9BED-A4BA357C4A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87E799-3119-4EA6-BF07-C5108250F7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4b3f6243204abc" /><Relationship Type="http://schemas.openxmlformats.org/officeDocument/2006/relationships/slideLayout" Target="/ppt/slideLayouts/slideLayout1.xml" Id="R4c4a1f074c994cb8" /><Relationship Type="http://schemas.openxmlformats.org/officeDocument/2006/relationships/slideLayout" Target="/ppt/slideLayouts/slideLayout2.xml" Id="R811e8ae105c94f80" /><Relationship Type="http://schemas.openxmlformats.org/officeDocument/2006/relationships/slideLayout" Target="/ppt/slideLayouts/slideLayout3.xml" Id="R96aa25f2b16445b1" /><Relationship Type="http://schemas.openxmlformats.org/officeDocument/2006/relationships/slideLayout" Target="/ppt/slideLayouts/slideLayout4.xml" Id="Rc16bf92cd7134510" /><Relationship Type="http://schemas.openxmlformats.org/officeDocument/2006/relationships/slideLayout" Target="/ppt/slideLayouts/slideLayout5.xml" Id="Rc5499c3fba444383" /><Relationship Type="http://schemas.openxmlformats.org/officeDocument/2006/relationships/slideLayout" Target="/ppt/slideLayouts/slideLayout6.xml" Id="R9801f1df34e547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4a1f074c994cb8"/>
    <p:sldLayoutId xmlns:r="http://schemas.openxmlformats.org/officeDocument/2006/relationships" id="2147483650" r:id="R811e8ae105c94f80"/>
    <p:sldLayoutId xmlns:r="http://schemas.openxmlformats.org/officeDocument/2006/relationships" id="2147483651" r:id="R96aa25f2b16445b1"/>
    <p:sldLayoutId xmlns:r="http://schemas.openxmlformats.org/officeDocument/2006/relationships" id="2147483652" r:id="Rc16bf92cd7134510"/>
    <p:sldLayoutId xmlns:r="http://schemas.openxmlformats.org/officeDocument/2006/relationships" id="2147483653" r:id="Rc5499c3fba444383"/>
    <p:sldLayoutId xmlns:r="http://schemas.openxmlformats.org/officeDocument/2006/relationships" id="2147483654" r:id="R9801f1df34e547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1a160c9b3d4d38" /><Relationship Type="http://schemas.openxmlformats.org/officeDocument/2006/relationships/notesSlide" Target="/ppt/notesSlides/notesSlide1.xml" Id="R278d4ad0292041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A34C4552-D872-4C3F-BD4F-2433D204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381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Product roadmap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FA8491-41D3-4157-8C16-4ADB4123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The next four phases after the Pathfinder demo</a:t>
            </a:r>
          </a:p>
        </p:txBody>
      </p:sp>
      <p:sp>
        <p:nvSpPr>
          <p:cNvPr id="3" name="phase-1">
            <a:extLst xmlns:a="http://schemas.openxmlformats.org/drawingml/2006/main">
              <a:ext uri="{FF2B5EF4-FFF2-40B4-BE49-F238E27FC236}">
                <a16:creationId xmlns:a16="http://schemas.microsoft.com/office/drawing/2014/main" id="{A69B399D-AEEF-4443-9119-D0C66DAC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heading-1">
            <a:extLst xmlns:a="http://schemas.openxmlformats.org/drawingml/2006/main">
              <a:ext uri="{FF2B5EF4-FFF2-40B4-BE49-F238E27FC236}">
                <a16:creationId xmlns:a16="http://schemas.microsoft.com/office/drawing/2014/main" id="{86769B4A-8E82-40FA-99AB-44A538B1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3257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MVP companion</a:t>
            </a:r>
          </a:p>
        </p:txBody>
      </p:sp>
      <p:sp>
        <p:nvSpPr>
          <p:cNvPr id="5" name="feature-0-0">
            <a:extLst xmlns:a="http://schemas.openxmlformats.org/drawingml/2006/main">
              <a:ext uri="{FF2B5EF4-FFF2-40B4-BE49-F238E27FC236}">
                <a16:creationId xmlns:a16="http://schemas.microsoft.com/office/drawing/2014/main" id="{F3A5100C-686A-4A28-921E-9C9F2E3B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Accounts and progress check-ins</a:t>
            </a:r>
          </a:p>
        </p:txBody>
      </p:sp>
      <p:sp>
        <p:nvSpPr>
          <p:cNvPr id="6" name="feature-0-1">
            <a:extLst xmlns:a="http://schemas.openxmlformats.org/drawingml/2006/main">
              <a:ext uri="{FF2B5EF4-FFF2-40B4-BE49-F238E27FC236}">
                <a16:creationId xmlns:a16="http://schemas.microsoft.com/office/drawing/2014/main" id="{0C281343-CA52-49EA-BEC4-B5360BFE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Nudges by email, WhatsApp and SMS</a:t>
            </a:r>
          </a:p>
        </p:txBody>
      </p:sp>
      <p:sp>
        <p:nvSpPr>
          <p:cNvPr id="7" name="feature-0-2">
            <a:extLst xmlns:a="http://schemas.openxmlformats.org/drawingml/2006/main">
              <a:ext uri="{FF2B5EF4-FFF2-40B4-BE49-F238E27FC236}">
                <a16:creationId xmlns:a16="http://schemas.microsoft.com/office/drawing/2014/main" id="{7D931FDD-0861-4FA0-A5FF-E24D25CF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Course verification tools</a:t>
            </a:r>
          </a:p>
        </p:txBody>
      </p:sp>
      <p:sp>
        <p:nvSpPr>
          <p:cNvPr id="8" name="feature-0-3">
            <a:extLst xmlns:a="http://schemas.openxmlformats.org/drawingml/2006/main">
              <a:ext uri="{FF2B5EF4-FFF2-40B4-BE49-F238E27FC236}">
                <a16:creationId xmlns:a16="http://schemas.microsoft.com/office/drawing/2014/main" id="{BD01218A-A41B-4853-9186-4942BEEB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294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Outcome follow-ups at 30 and 90 days</a:t>
            </a:r>
          </a:p>
        </p:txBody>
      </p:sp>
      <p:sp>
        <p:nvSpPr>
          <p:cNvPr id="9" name="phase-2">
            <a:extLst xmlns:a="http://schemas.openxmlformats.org/drawingml/2006/main">
              <a:ext uri="{FF2B5EF4-FFF2-40B4-BE49-F238E27FC236}">
                <a16:creationId xmlns:a16="http://schemas.microsoft.com/office/drawing/2014/main" id="{0B3825EF-BEAE-4565-BFA8-25B34D4A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0505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heading-2">
            <a:extLst xmlns:a="http://schemas.openxmlformats.org/drawingml/2006/main">
              <a:ext uri="{FF2B5EF4-FFF2-40B4-BE49-F238E27FC236}">
                <a16:creationId xmlns:a16="http://schemas.microsoft.com/office/drawing/2014/main" id="{D1E99D6E-82AD-4487-BBDB-0ADC89D8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38500"/>
            <a:ext cx="3257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Tracking across</a:t>
            </a:r>
          </a:p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platforms &amp; devices</a:t>
            </a:r>
          </a:p>
        </p:txBody>
      </p:sp>
      <p:sp>
        <p:nvSpPr>
          <p:cNvPr id="11" name="feature-1-0">
            <a:extLst xmlns:a="http://schemas.openxmlformats.org/drawingml/2006/main">
              <a:ext uri="{FF2B5EF4-FFF2-40B4-BE49-F238E27FC236}">
                <a16:creationId xmlns:a16="http://schemas.microsoft.com/office/drawing/2014/main" id="{E838BE37-9068-4B64-967E-34DDD688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577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Browser extension for learning sites</a:t>
            </a:r>
          </a:p>
        </p:txBody>
      </p:sp>
      <p:sp>
        <p:nvSpPr>
          <p:cNvPr id="12" name="feature-1-1">
            <a:extLst xmlns:a="http://schemas.openxmlformats.org/drawingml/2006/main">
              <a:ext uri="{FF2B5EF4-FFF2-40B4-BE49-F238E27FC236}">
                <a16:creationId xmlns:a16="http://schemas.microsoft.com/office/drawing/2014/main" id="{D95A1E75-3AA9-4BF4-80DE-445FA115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816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Android app with React Native and Expo</a:t>
            </a:r>
          </a:p>
        </p:txBody>
      </p:sp>
      <p:sp>
        <p:nvSpPr>
          <p:cNvPr id="13" name="feature-1-2">
            <a:extLst xmlns:a="http://schemas.openxmlformats.org/drawingml/2006/main">
              <a:ext uri="{FF2B5EF4-FFF2-40B4-BE49-F238E27FC236}">
                <a16:creationId xmlns:a16="http://schemas.microsoft.com/office/drawing/2014/main" id="{D6818ADB-1DB5-46B5-94C7-8A5B3312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9055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SMS access for basic phones</a:t>
            </a:r>
          </a:p>
        </p:txBody>
      </p:sp>
      <p:sp>
        <p:nvSpPr>
          <p:cNvPr id="14" name="feature-1-3">
            <a:extLst xmlns:a="http://schemas.openxmlformats.org/drawingml/2006/main">
              <a:ext uri="{FF2B5EF4-FFF2-40B4-BE49-F238E27FC236}">
                <a16:creationId xmlns:a16="http://schemas.microsoft.com/office/drawing/2014/main" id="{3DCEA0E5-8E04-4BEA-AEA8-483461D0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6294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Progress processing on the device</a:t>
            </a:r>
          </a:p>
        </p:txBody>
      </p:sp>
      <p:sp>
        <p:nvSpPr>
          <p:cNvPr id="15" name="phase-3">
            <a:extLst xmlns:a="http://schemas.openxmlformats.org/drawingml/2006/main">
              <a:ext uri="{FF2B5EF4-FFF2-40B4-BE49-F238E27FC236}">
                <a16:creationId xmlns:a16="http://schemas.microsoft.com/office/drawing/2014/main" id="{351F72AB-FA02-4099-91D8-5423E02D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0505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heading-3">
            <a:extLst xmlns:a="http://schemas.openxmlformats.org/drawingml/2006/main">
              <a:ext uri="{FF2B5EF4-FFF2-40B4-BE49-F238E27FC236}">
                <a16:creationId xmlns:a16="http://schemas.microsoft.com/office/drawing/2014/main" id="{5EBD3E4E-EF01-43FC-8D79-7D4AEB5F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3257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17" name="feature-2-0">
            <a:extLst xmlns:a="http://schemas.openxmlformats.org/drawingml/2006/main">
              <a:ext uri="{FF2B5EF4-FFF2-40B4-BE49-F238E27FC236}">
                <a16:creationId xmlns:a16="http://schemas.microsoft.com/office/drawing/2014/main" id="{252D7E5E-75F7-4884-A4B9-8A1951C1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577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Completion and dropout prediction</a:t>
            </a:r>
          </a:p>
        </p:txBody>
      </p:sp>
      <p:sp>
        <p:nvSpPr>
          <p:cNvPr id="18" name="feature-2-1">
            <a:extLst xmlns:a="http://schemas.openxmlformats.org/drawingml/2006/main">
              <a:ext uri="{FF2B5EF4-FFF2-40B4-BE49-F238E27FC236}">
                <a16:creationId xmlns:a16="http://schemas.microsoft.com/office/drawing/2014/main" id="{B0E21C82-C094-4814-A525-888A226B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816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Nudges timed before learners slip</a:t>
            </a:r>
          </a:p>
        </p:txBody>
      </p:sp>
      <p:sp>
        <p:nvSpPr>
          <p:cNvPr id="19" name="feature-2-2">
            <a:extLst xmlns:a="http://schemas.openxmlformats.org/drawingml/2006/main">
              <a:ext uri="{FF2B5EF4-FFF2-40B4-BE49-F238E27FC236}">
                <a16:creationId xmlns:a16="http://schemas.microsoft.com/office/drawing/2014/main" id="{9FF3A469-41F5-423D-A962-0843C672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9055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Recommendations based on</a:t>
            </a:r>
          </a:p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completion and outcomes</a:t>
            </a:r>
          </a:p>
        </p:txBody>
      </p:sp>
      <p:sp>
        <p:nvSpPr>
          <p:cNvPr id="20" name="feature-2-3">
            <a:extLst xmlns:a="http://schemas.openxmlformats.org/drawingml/2006/main">
              <a:ext uri="{FF2B5EF4-FFF2-40B4-BE49-F238E27FC236}">
                <a16:creationId xmlns:a16="http://schemas.microsoft.com/office/drawing/2014/main" id="{A6AB6E69-5928-4BA3-A0E2-494E965A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6294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Per-course outcome insights</a:t>
            </a:r>
          </a:p>
        </p:txBody>
      </p:sp>
      <p:sp>
        <p:nvSpPr>
          <p:cNvPr id="21" name="phase-4">
            <a:extLst xmlns:a="http://schemas.openxmlformats.org/drawingml/2006/main">
              <a:ext uri="{FF2B5EF4-FFF2-40B4-BE49-F238E27FC236}">
                <a16:creationId xmlns:a16="http://schemas.microsoft.com/office/drawing/2014/main" id="{D007B49D-BDAB-499F-B05C-3E47167E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30505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heading-4">
            <a:extLst xmlns:a="http://schemas.openxmlformats.org/drawingml/2006/main">
              <a:ext uri="{FF2B5EF4-FFF2-40B4-BE49-F238E27FC236}">
                <a16:creationId xmlns:a16="http://schemas.microsoft.com/office/drawing/2014/main" id="{191835DE-7E14-4393-9422-6E5194AF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238500"/>
            <a:ext cx="3257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Scale &amp; inclusion</a:t>
            </a:r>
          </a:p>
        </p:txBody>
      </p:sp>
      <p:sp>
        <p:nvSpPr>
          <p:cNvPr id="23" name="feature-3-0">
            <a:extLst xmlns:a="http://schemas.openxmlformats.org/drawingml/2006/main">
              <a:ext uri="{FF2B5EF4-FFF2-40B4-BE49-F238E27FC236}">
                <a16:creationId xmlns:a16="http://schemas.microsoft.com/office/drawing/2014/main" id="{5AB09A5A-7928-46D8-B2B1-E46DA291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4577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More languages, including Hausa and Swahili</a:t>
            </a:r>
          </a:p>
        </p:txBody>
      </p:sp>
      <p:sp>
        <p:nvSpPr>
          <p:cNvPr id="24" name="feature-3-1">
            <a:extLst xmlns:a="http://schemas.openxmlformats.org/drawingml/2006/main">
              <a:ext uri="{FF2B5EF4-FFF2-40B4-BE49-F238E27FC236}">
                <a16:creationId xmlns:a16="http://schemas.microsoft.com/office/drawing/2014/main" id="{4EED3E67-ACAC-4D6D-913B-C309600C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1816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Voice input and accessible interfaces</a:t>
            </a:r>
          </a:p>
        </p:txBody>
      </p:sp>
      <p:sp>
        <p:nvSpPr>
          <p:cNvPr id="25" name="feature-3-2">
            <a:extLst xmlns:a="http://schemas.openxmlformats.org/drawingml/2006/main">
              <a:ext uri="{FF2B5EF4-FFF2-40B4-BE49-F238E27FC236}">
                <a16:creationId xmlns:a16="http://schemas.microsoft.com/office/drawing/2014/main" id="{D7EB9EF3-E8DA-451A-8998-FB0AA800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055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Local credentials, jobs and scholarships</a:t>
            </a:r>
          </a:p>
        </p:txBody>
      </p:sp>
      <p:sp>
        <p:nvSpPr>
          <p:cNvPr id="26" name="feature-3-3">
            <a:extLst xmlns:a="http://schemas.openxmlformats.org/drawingml/2006/main">
              <a:ext uri="{FF2B5EF4-FFF2-40B4-BE49-F238E27FC236}">
                <a16:creationId xmlns:a16="http://schemas.microsoft.com/office/drawing/2014/main" id="{01EA20B5-4B8F-47FE-921C-F61F0776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Partnerships with schools, bootcamps and NGOs</a:t>
            </a:r>
          </a:p>
        </p:txBody>
      </p:sp>
      <p:sp>
        <p:nvSpPr>
          <p:cNvPr id="27" name="principle">
            <a:extLst xmlns:a="http://schemas.openxmlformats.org/drawingml/2006/main">
              <a:ext uri="{FF2B5EF4-FFF2-40B4-BE49-F238E27FC236}">
                <a16:creationId xmlns:a16="http://schemas.microsoft.com/office/drawing/2014/main" id="{70CB73DA-2677-462E-A46F-36AFD018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00950"/>
            <a:ext cx="1398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766E"/>
                </a:solidFill>
                <a:latin typeface="Arial"/>
                <a:ea typeface="Arial"/>
                <a:cs typeface="Arial"/>
              </a:rPr>
              <a:t>Across every phase: low data use, privacy and support for the learner’s own goals</a:t>
            </a:r>
          </a:p>
        </p:txBody>
      </p:sp>
      <p:sp>
        <p:nvSpPr>
          <p:cNvPr id="28" name="event">
            <a:extLst xmlns:a="http://schemas.openxmlformats.org/drawingml/2006/main">
              <a:ext uri="{FF2B5EF4-FFF2-40B4-BE49-F238E27FC236}">
                <a16:creationId xmlns:a16="http://schemas.microsoft.com/office/drawing/2014/main" id="{2B563B4B-9D55-4018-B96C-0A9AE629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724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Pathfinder for Codex Accelerator</a:t>
            </a:r>
          </a:p>
        </p:txBody>
      </p:sp>
      <p:sp>
        <p:nvSpPr>
          <p:cNvPr id="29" name="author">
            <a:extLst xmlns:a="http://schemas.openxmlformats.org/drawingml/2006/main">
              <a:ext uri="{FF2B5EF4-FFF2-40B4-BE49-F238E27FC236}">
                <a16:creationId xmlns:a16="http://schemas.microsoft.com/office/drawing/2014/main" id="{3EABBE7C-018C-459A-8002-BEB5163F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8172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Arinze Nsude</a:t>
            </a:r>
          </a:p>
        </p:txBody>
      </p:sp>
    </p:spTree>
    <p:extLst>
      <p:ext uri="{BB962C8B-B14F-4D97-AF65-F5344CB8AC3E}">
        <p14:creationId xmlns:p14="http://schemas.microsoft.com/office/powerpoint/2010/main" val="1313891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2026-10-14T16:35:07.1830000Z</dcterms:created>
  <dcterms:modified xsi:type="dcterms:W3CDTF">2026-10-14T16:35:07.1830000Z</dcterms:modified>
</coreProperties>
</file>